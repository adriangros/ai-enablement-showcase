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/>
  <p:slideViewPr>
    <p:cSldViewPr snapToGrid="1" snapToObjects="1"/>
  </p:slideViewPr>
  <p:notesTextViewPr>
    <p:cViewPr/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 Enablement 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Panel"/>
          <p:cNvSpPr/>
          <p:nvPr/>
        </p:nvSpPr>
        <p:spPr>
          <a:xfrm>
            <a:off x="566928" y="1417320"/>
            <a:ext cx="4663440" cy="3429000"/>
          </a:xfrm>
          <a:prstGeom prst="roundRect">
            <a:avLst/>
          </a:prstGeom>
          <a:solidFill>
            <a:srgbClr val="0B3B4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Warm Panel"/>
          <p:cNvSpPr/>
          <p:nvPr/>
        </p:nvSpPr>
        <p:spPr>
          <a:xfrm>
            <a:off x="5559552" y="1417320"/>
            <a:ext cx="6053328" cy="3429000"/>
          </a:xfrm>
          <a:prstGeom prst="roundRect">
            <a:avLst/>
          </a:prstGeom>
          <a:solidFill>
            <a:srgbClr val="E7D8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icker"/>
          <p:cNvSpPr txBox="1"/>
          <p:nvPr/>
        </p:nvSpPr>
        <p:spPr>
          <a:xfrm>
            <a:off x="768096" y="17190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D9F2EF"/>
                </a:solidFill>
              </a:rPr>
              <a:t>AI Enablement Showcase</a:t>
            </a:r>
            <a:endParaRPr lang="en-US" sz="1100"/>
          </a:p>
        </p:txBody>
      </p:sp>
      <p:sp>
        <p:nvSpPr>
          <p:cNvPr id="6" name="Title"/>
          <p:cNvSpPr txBox="1"/>
          <p:nvPr/>
        </p:nvSpPr>
        <p:spPr>
          <a:xfrm>
            <a:off x="768096" y="2148840"/>
            <a:ext cx="40690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600" b="1">
                <a:solidFill>
                  <a:srgbClr val="FFFFFF"/>
                </a:solidFill>
              </a:rPr>
              <a:t>Kuenstliche Intelligenz im Arbeitsalltag</a:t>
            </a:r>
            <a:endParaRPr lang="en-US" sz="2600"/>
          </a:p>
        </p:txBody>
      </p:sp>
      <p:sp>
        <p:nvSpPr>
          <p:cNvPr id="7" name="Subtitle"/>
          <p:cNvSpPr txBox="1"/>
          <p:nvPr/>
        </p:nvSpPr>
        <p:spPr>
          <a:xfrm>
            <a:off x="5925312" y="1874519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1E293B"/>
                </a:solidFill>
              </a:rPr>
              <a:t>Moeglichkeiten, Grenzen und verantwortliche Nutzung</a:t>
            </a:r>
            <a:endParaRPr lang="en-US" sz="1800"/>
          </a:p>
        </p:txBody>
      </p:sp>
      <p:sp>
        <p:nvSpPr>
          <p:cNvPr id="8" name="Prompt"/>
          <p:cNvSpPr txBox="1"/>
          <p:nvPr/>
        </p:nvSpPr>
        <p:spPr>
          <a:xfrm>
            <a:off x="5925312" y="2907792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60">
                <a:solidFill>
                  <a:srgbClr val="1E293B"/>
                </a:solidFill>
              </a:rPr>
              <a:t>KI ist kein Zukunftsthema mehr.</a:t>
            </a:r>
            <a:endParaRPr lang="en-US" sz="1160"/>
          </a:p>
          <a:p>
            <a:r>
              <a:rPr lang="en-US" sz="1160">
                <a:solidFill>
                  <a:srgbClr val="1E293B"/>
                </a:solidFill>
              </a:rPr>
              <a:t>Die entscheidende Frage ist: Wie nutzen wir sie sinnvoll?</a:t>
            </a:r>
            <a:endParaRPr lang="en-US" sz="11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RELEVANZ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Warum das Thema jetzt wichtig ist</a:t>
            </a:r>
            <a:endParaRPr lang="en-US" sz="2400"/>
          </a:p>
        </p:txBody>
      </p:sp>
      <p:sp>
        <p:nvSpPr>
          <p:cNvPr id="6" name="Main Statement Box"/>
          <p:cNvSpPr/>
          <p:nvPr/>
        </p:nvSpPr>
        <p:spPr>
          <a:xfrm>
            <a:off x="566928" y="1554480"/>
            <a:ext cx="110185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Main Statement"/>
          <p:cNvSpPr txBox="1"/>
          <p:nvPr/>
        </p:nvSpPr>
        <p:spPr>
          <a:xfrm>
            <a:off x="841248" y="1828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1E293B"/>
                </a:solidFill>
              </a:rPr>
              <a:t>Generative KI wird fuer Entwuerfe, Zusammenfassungen und Informationsarbeit genutzt.</a:t>
            </a:r>
            <a:endParaRPr lang="en-US" sz="1800"/>
          </a:p>
        </p:txBody>
      </p:sp>
      <p:sp>
        <p:nvSpPr>
          <p:cNvPr id="8" name="Card 1"/>
          <p:cNvSpPr/>
          <p:nvPr/>
        </p:nvSpPr>
        <p:spPr>
          <a:xfrm>
            <a:off x="566928" y="3063240"/>
            <a:ext cx="3154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Card Text 1"/>
          <p:cNvSpPr txBox="1"/>
          <p:nvPr/>
        </p:nvSpPr>
        <p:spPr>
          <a:xfrm>
            <a:off x="822960" y="3520440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20" b="1">
                <a:solidFill>
                  <a:srgbClr val="1E293B"/>
                </a:solidFill>
              </a:rPr>
              <a:t>Ohne Methode sinkt die Qualitaet schnell.</a:t>
            </a:r>
            <a:endParaRPr lang="en-US" sz="1120"/>
          </a:p>
        </p:txBody>
      </p:sp>
      <p:sp>
        <p:nvSpPr>
          <p:cNvPr id="10" name="Card 2"/>
          <p:cNvSpPr/>
          <p:nvPr/>
        </p:nvSpPr>
        <p:spPr>
          <a:xfrm>
            <a:off x="3950208" y="3063240"/>
            <a:ext cx="3154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Text 2"/>
          <p:cNvSpPr txBox="1"/>
          <p:nvPr/>
        </p:nvSpPr>
        <p:spPr>
          <a:xfrm>
            <a:off x="4206240" y="3520440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20" b="1">
                <a:solidFill>
                  <a:srgbClr val="1E293B"/>
                </a:solidFill>
              </a:rPr>
              <a:t>Deshalb braucht es Nutzungskompetenz, nicht nur Toolzugang.</a:t>
            </a:r>
            <a:endParaRPr lang="en-US" sz="11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NUTZEN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Was moderne KI heute gut kann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Aktuelle generative KI-Systeme eignen sich fuer Entwuerfe,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Zusammenfassungen, Umformulierungen und erste Ideen in textnaher Arbeit.</a:t>
            </a:r>
            <a:endParaRPr lang="en-US" sz="1040"/>
          </a:p>
        </p:txBody>
      </p:sp>
      <p:sp>
        <p:nvSpPr>
          <p:cNvPr id="10" name="Card 1"/>
          <p:cNvSpPr/>
          <p:nvPr/>
        </p:nvSpPr>
        <p:spPr>
          <a:xfrm>
            <a:off x="566928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Label 1"/>
          <p:cNvSpPr txBox="1"/>
          <p:nvPr/>
        </p:nvSpPr>
        <p:spPr>
          <a:xfrm>
            <a:off x="822960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Texte entwerfen</a:t>
            </a:r>
            <a:endParaRPr lang="en-US" sz="1040"/>
          </a:p>
        </p:txBody>
      </p:sp>
      <p:sp>
        <p:nvSpPr>
          <p:cNvPr id="12" name="Card 2"/>
          <p:cNvSpPr/>
          <p:nvPr/>
        </p:nvSpPr>
        <p:spPr>
          <a:xfrm>
            <a:off x="4526280" y="233172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Label 2"/>
          <p:cNvSpPr txBox="1"/>
          <p:nvPr/>
        </p:nvSpPr>
        <p:spPr>
          <a:xfrm>
            <a:off x="4782312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Inhalte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zusammenfassen</a:t>
            </a:r>
            <a:endParaRPr lang="en-US" sz="1040"/>
          </a:p>
        </p:txBody>
      </p:sp>
      <p:sp>
        <p:nvSpPr>
          <p:cNvPr id="14" name="Card 3"/>
          <p:cNvSpPr/>
          <p:nvPr/>
        </p:nvSpPr>
        <p:spPr>
          <a:xfrm>
            <a:off x="8485632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Label 3"/>
          <p:cNvSpPr txBox="1"/>
          <p:nvPr/>
        </p:nvSpPr>
        <p:spPr>
          <a:xfrm>
            <a:off x="8741663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Informationen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umformulieren</a:t>
            </a:r>
            <a:endParaRPr lang="en-US" sz="1040"/>
          </a:p>
        </p:txBody>
      </p:sp>
      <p:sp>
        <p:nvSpPr>
          <p:cNvPr id="16" name="Card 4"/>
          <p:cNvSpPr/>
          <p:nvPr/>
        </p:nvSpPr>
        <p:spPr>
          <a:xfrm>
            <a:off x="2578608" y="406908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 Label 4"/>
          <p:cNvSpPr txBox="1"/>
          <p:nvPr/>
        </p:nvSpPr>
        <p:spPr>
          <a:xfrm>
            <a:off x="2834639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Ideen strukturieren</a:t>
            </a:r>
            <a:endParaRPr lang="en-US" sz="1040"/>
          </a:p>
        </p:txBody>
      </p:sp>
      <p:sp>
        <p:nvSpPr>
          <p:cNvPr id="18" name="Card 5"/>
          <p:cNvSpPr/>
          <p:nvPr/>
        </p:nvSpPr>
        <p:spPr>
          <a:xfrm>
            <a:off x="6537960" y="406908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Label 5"/>
          <p:cNvSpPr txBox="1"/>
          <p:nvPr/>
        </p:nvSpPr>
        <p:spPr>
          <a:xfrm>
            <a:off x="6793992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Erste Denkansaetze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liefern</a:t>
            </a:r>
            <a:endParaRPr lang="en-US" sz="10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GRENZEN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Was moderne KI nicht gut kann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Generative KI kann flussig klingende, aber unzutreffende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Inhalte erzeugen. Ergebnisse sollten deshalb nicht ungeprueft uebernommen werden.</a:t>
            </a:r>
            <a:endParaRPr lang="en-US" sz="1040"/>
          </a:p>
        </p:txBody>
      </p:sp>
      <p:sp>
        <p:nvSpPr>
          <p:cNvPr id="10" name="Card 1"/>
          <p:cNvSpPr/>
          <p:nvPr/>
        </p:nvSpPr>
        <p:spPr>
          <a:xfrm>
            <a:off x="566928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Label 1"/>
          <p:cNvSpPr txBox="1"/>
          <p:nvPr/>
        </p:nvSpPr>
        <p:spPr>
          <a:xfrm>
            <a:off x="822960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Korrektheit nicht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garantieren</a:t>
            </a:r>
            <a:endParaRPr lang="en-US" sz="1040"/>
          </a:p>
        </p:txBody>
      </p:sp>
      <p:sp>
        <p:nvSpPr>
          <p:cNvPr id="12" name="Card 2"/>
          <p:cNvSpPr/>
          <p:nvPr/>
        </p:nvSpPr>
        <p:spPr>
          <a:xfrm>
            <a:off x="4526280" y="233172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Label 2"/>
          <p:cNvSpPr txBox="1"/>
          <p:nvPr/>
        </p:nvSpPr>
        <p:spPr>
          <a:xfrm>
            <a:off x="4782312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Fehlenden Kontext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kaum erraten</a:t>
            </a:r>
            <a:endParaRPr lang="en-US" sz="1040"/>
          </a:p>
        </p:txBody>
      </p:sp>
      <p:sp>
        <p:nvSpPr>
          <p:cNvPr id="14" name="Card 3"/>
          <p:cNvSpPr/>
          <p:nvPr/>
        </p:nvSpPr>
        <p:spPr>
          <a:xfrm>
            <a:off x="8485632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Label 3"/>
          <p:cNvSpPr txBox="1"/>
          <p:nvPr/>
        </p:nvSpPr>
        <p:spPr>
          <a:xfrm>
            <a:off x="8741663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Fachurteile nicht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ersetzen</a:t>
            </a:r>
            <a:endParaRPr lang="en-US" sz="1040"/>
          </a:p>
        </p:txBody>
      </p:sp>
      <p:sp>
        <p:nvSpPr>
          <p:cNvPr id="16" name="Card 4"/>
          <p:cNvSpPr/>
          <p:nvPr/>
        </p:nvSpPr>
        <p:spPr>
          <a:xfrm>
            <a:off x="2578608" y="406908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 Label 4"/>
          <p:cNvSpPr txBox="1"/>
          <p:nvPr/>
        </p:nvSpPr>
        <p:spPr>
          <a:xfrm>
            <a:off x="2834639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Verantwortung nicht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uebernehmen</a:t>
            </a:r>
            <a:endParaRPr lang="en-US" sz="10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FUNKTIONSPRINZIP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Wie moderne KI grob funktioniert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Grosse Sprachmodelle erzeugen Text, indem sie auf Basis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gelernter Muster wahrscheinliche Tokenfolgen vorhersagen.</a:t>
            </a:r>
            <a:endParaRPr lang="en-US" sz="1040"/>
          </a:p>
        </p:txBody>
      </p:sp>
      <p:sp>
        <p:nvSpPr>
          <p:cNvPr id="10" name="Step Box 1"/>
          <p:cNvSpPr/>
          <p:nvPr/>
        </p:nvSpPr>
        <p:spPr>
          <a:xfrm>
            <a:off x="566928" y="2926080"/>
            <a:ext cx="2377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tep Header 1"/>
          <p:cNvSpPr/>
          <p:nvPr/>
        </p:nvSpPr>
        <p:spPr>
          <a:xfrm>
            <a:off x="566928" y="2926080"/>
            <a:ext cx="237744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tep Text 1"/>
          <p:cNvSpPr txBox="1"/>
          <p:nvPr/>
        </p:nvSpPr>
        <p:spPr>
          <a:xfrm>
            <a:off x="786384" y="3520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0F766E"/>
                </a:solidFill>
              </a:rPr>
              <a:t>1</a:t>
            </a:r>
            <a:endParaRPr lang="en-US" sz="1800"/>
          </a:p>
          <a:p>
            <a:r>
              <a:rPr lang="en-US" sz="1040" b="1">
                <a:solidFill>
                  <a:srgbClr val="1E293B"/>
                </a:solidFill>
              </a:rPr>
              <a:t>Trainiert auf vielen Beispielen</a:t>
            </a:r>
            <a:endParaRPr lang="en-US" sz="1040"/>
          </a:p>
        </p:txBody>
      </p:sp>
      <p:sp>
        <p:nvSpPr>
          <p:cNvPr id="13" name="Step Box 2"/>
          <p:cNvSpPr/>
          <p:nvPr/>
        </p:nvSpPr>
        <p:spPr>
          <a:xfrm>
            <a:off x="3337560" y="2926080"/>
            <a:ext cx="2377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tep Header 2"/>
          <p:cNvSpPr/>
          <p:nvPr/>
        </p:nvSpPr>
        <p:spPr>
          <a:xfrm>
            <a:off x="3337560" y="2926080"/>
            <a:ext cx="2377440" cy="38404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tep Text 2"/>
          <p:cNvSpPr txBox="1"/>
          <p:nvPr/>
        </p:nvSpPr>
        <p:spPr>
          <a:xfrm>
            <a:off x="3557015" y="3520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D97757"/>
                </a:solidFill>
              </a:rPr>
              <a:t>2</a:t>
            </a:r>
            <a:endParaRPr lang="en-US" sz="1800"/>
          </a:p>
          <a:p>
            <a:r>
              <a:rPr lang="en-US" sz="1040" b="1">
                <a:solidFill>
                  <a:srgbClr val="1E293B"/>
                </a:solidFill>
              </a:rPr>
              <a:t>Erkennt Muster in Sprache und Struktur</a:t>
            </a:r>
            <a:endParaRPr lang="en-US" sz="1040"/>
          </a:p>
        </p:txBody>
      </p:sp>
      <p:sp>
        <p:nvSpPr>
          <p:cNvPr id="16" name="Step Box 3"/>
          <p:cNvSpPr/>
          <p:nvPr/>
        </p:nvSpPr>
        <p:spPr>
          <a:xfrm>
            <a:off x="6108192" y="2926080"/>
            <a:ext cx="2377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tep Header 3"/>
          <p:cNvSpPr/>
          <p:nvPr/>
        </p:nvSpPr>
        <p:spPr>
          <a:xfrm>
            <a:off x="6108192" y="2926080"/>
            <a:ext cx="237744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tep Text 3"/>
          <p:cNvSpPr txBox="1"/>
          <p:nvPr/>
        </p:nvSpPr>
        <p:spPr>
          <a:xfrm>
            <a:off x="6327648" y="3520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0F766E"/>
                </a:solidFill>
              </a:rPr>
              <a:t>3</a:t>
            </a:r>
            <a:endParaRPr lang="en-US" sz="1800"/>
          </a:p>
          <a:p>
            <a:r>
              <a:rPr lang="en-US" sz="1040" b="1">
                <a:solidFill>
                  <a:srgbClr val="1E293B"/>
                </a:solidFill>
              </a:rPr>
              <a:t>Erzeugt Antworten ueber Wahrscheinlichkeiten</a:t>
            </a:r>
            <a:endParaRPr lang="en-US" sz="1040"/>
          </a:p>
        </p:txBody>
      </p:sp>
      <p:sp>
        <p:nvSpPr>
          <p:cNvPr id="19" name="Step Box 4"/>
          <p:cNvSpPr/>
          <p:nvPr/>
        </p:nvSpPr>
        <p:spPr>
          <a:xfrm>
            <a:off x="8878824" y="2926080"/>
            <a:ext cx="2377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tep Header 4"/>
          <p:cNvSpPr/>
          <p:nvPr/>
        </p:nvSpPr>
        <p:spPr>
          <a:xfrm>
            <a:off x="8878824" y="2926080"/>
            <a:ext cx="2377440" cy="38404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tep Text 4"/>
          <p:cNvSpPr txBox="1"/>
          <p:nvPr/>
        </p:nvSpPr>
        <p:spPr>
          <a:xfrm>
            <a:off x="9098280" y="3520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D97757"/>
                </a:solidFill>
              </a:rPr>
              <a:t>4</a:t>
            </a:r>
            <a:endParaRPr lang="en-US" sz="1800"/>
          </a:p>
          <a:p>
            <a:r>
              <a:rPr lang="en-US" sz="1040" b="1">
                <a:solidFill>
                  <a:srgbClr val="1E293B"/>
                </a:solidFill>
              </a:rPr>
              <a:t>Qualitaet haengt stark von Eingabe und Kontext ab</a:t>
            </a:r>
            <a:endParaRPr lang="en-US" sz="104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PRAXIS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Wo KI im Arbeitsalltag hilft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Ein sinnvoller Einstieg liegt in Unterstuetzungsaufgaben wie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Entwuerfen, Zusammenfassungen, Vorbereitung und Strukturierung in der Wissensarbeit.</a:t>
            </a:r>
            <a:endParaRPr lang="en-US" sz="1040"/>
          </a:p>
        </p:txBody>
      </p:sp>
      <p:sp>
        <p:nvSpPr>
          <p:cNvPr id="10" name="Card 1"/>
          <p:cNvSpPr/>
          <p:nvPr/>
        </p:nvSpPr>
        <p:spPr>
          <a:xfrm>
            <a:off x="566928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Label 1"/>
          <p:cNvSpPr txBox="1"/>
          <p:nvPr/>
        </p:nvSpPr>
        <p:spPr>
          <a:xfrm>
            <a:off x="822960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Vorbereitung von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Meetings</a:t>
            </a:r>
            <a:endParaRPr lang="en-US" sz="1040"/>
          </a:p>
        </p:txBody>
      </p:sp>
      <p:sp>
        <p:nvSpPr>
          <p:cNvPr id="12" name="Card 2"/>
          <p:cNvSpPr/>
          <p:nvPr/>
        </p:nvSpPr>
        <p:spPr>
          <a:xfrm>
            <a:off x="4526280" y="233172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Label 2"/>
          <p:cNvSpPr txBox="1"/>
          <p:nvPr/>
        </p:nvSpPr>
        <p:spPr>
          <a:xfrm>
            <a:off x="4782312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Zusammenfassungen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und Notizen</a:t>
            </a:r>
            <a:endParaRPr lang="en-US" sz="1040"/>
          </a:p>
        </p:txBody>
      </p:sp>
      <p:sp>
        <p:nvSpPr>
          <p:cNvPr id="14" name="Card 3"/>
          <p:cNvSpPr/>
          <p:nvPr/>
        </p:nvSpPr>
        <p:spPr>
          <a:xfrm>
            <a:off x="8485632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Label 3"/>
          <p:cNvSpPr txBox="1"/>
          <p:nvPr/>
        </p:nvSpPr>
        <p:spPr>
          <a:xfrm>
            <a:off x="8741663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Erste Textentwuerfe</a:t>
            </a:r>
            <a:endParaRPr lang="en-US" sz="1040"/>
          </a:p>
        </p:txBody>
      </p:sp>
      <p:sp>
        <p:nvSpPr>
          <p:cNvPr id="16" name="Card 4"/>
          <p:cNvSpPr/>
          <p:nvPr/>
        </p:nvSpPr>
        <p:spPr>
          <a:xfrm>
            <a:off x="2578608" y="406908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 Label 4"/>
          <p:cNvSpPr txBox="1"/>
          <p:nvPr/>
        </p:nvSpPr>
        <p:spPr>
          <a:xfrm>
            <a:off x="2834639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Strukturierung von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Informationen</a:t>
            </a:r>
            <a:endParaRPr lang="en-US" sz="1040"/>
          </a:p>
        </p:txBody>
      </p:sp>
      <p:sp>
        <p:nvSpPr>
          <p:cNvPr id="18" name="Card 5"/>
          <p:cNvSpPr/>
          <p:nvPr/>
        </p:nvSpPr>
        <p:spPr>
          <a:xfrm>
            <a:off x="6537960" y="406908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Label 5"/>
          <p:cNvSpPr txBox="1"/>
          <p:nvPr/>
        </p:nvSpPr>
        <p:spPr>
          <a:xfrm>
            <a:off x="6793992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Recherche und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Kommunikation</a:t>
            </a:r>
            <a:endParaRPr lang="en-US" sz="10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ARBEITSMETHODE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Gute Nutzung ist eine Methode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Expliziter Kontext, Rolle, Ziel, Beispiele und Review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verbessern die Ergebnisqualitaet oft deutlich.</a:t>
            </a:r>
            <a:endParaRPr lang="en-US" sz="1040"/>
          </a:p>
        </p:txBody>
      </p:sp>
      <p:sp>
        <p:nvSpPr>
          <p:cNvPr id="20" name="Step 1"/>
          <p:cNvSpPr/>
          <p:nvPr/>
        </p:nvSpPr>
        <p:spPr>
          <a:xfrm>
            <a:off x="566928" y="3154680"/>
            <a:ext cx="1645920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tep Label 1"/>
          <p:cNvSpPr txBox="1"/>
          <p:nvPr/>
        </p:nvSpPr>
        <p:spPr>
          <a:xfrm>
            <a:off x="731520" y="3611880"/>
            <a:ext cx="13167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FFFFFF"/>
                </a:solidFill>
              </a:rPr>
              <a:t>1</a:t>
            </a:r>
            <a:endParaRPr lang="en-US" sz="1500"/>
          </a:p>
          <a:p>
            <a:r>
              <a:rPr lang="en-US" sz="1120" b="1">
                <a:solidFill>
                  <a:srgbClr val="FFFFFF"/>
                </a:solidFill>
              </a:rPr>
              <a:t>Kontext</a:t>
            </a:r>
            <a:endParaRPr lang="en-US" sz="1120"/>
          </a:p>
        </p:txBody>
      </p:sp>
      <p:sp>
        <p:nvSpPr>
          <p:cNvPr id="22" name="Step 2"/>
          <p:cNvSpPr/>
          <p:nvPr/>
        </p:nvSpPr>
        <p:spPr>
          <a:xfrm>
            <a:off x="2715768" y="3154680"/>
            <a:ext cx="1645920" cy="1828800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tep Label 2"/>
          <p:cNvSpPr txBox="1"/>
          <p:nvPr/>
        </p:nvSpPr>
        <p:spPr>
          <a:xfrm>
            <a:off x="2880360" y="3611880"/>
            <a:ext cx="13167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FFFFFF"/>
                </a:solidFill>
              </a:rPr>
              <a:t>2</a:t>
            </a:r>
            <a:endParaRPr lang="en-US" sz="1500"/>
          </a:p>
          <a:p>
            <a:r>
              <a:rPr lang="en-US" sz="1120" b="1">
                <a:solidFill>
                  <a:srgbClr val="FFFFFF"/>
                </a:solidFill>
              </a:rPr>
              <a:t>Rolle</a:t>
            </a:r>
            <a:endParaRPr lang="en-US" sz="1120"/>
          </a:p>
        </p:txBody>
      </p:sp>
      <p:sp>
        <p:nvSpPr>
          <p:cNvPr id="24" name="Step 3"/>
          <p:cNvSpPr/>
          <p:nvPr/>
        </p:nvSpPr>
        <p:spPr>
          <a:xfrm>
            <a:off x="4864608" y="3154680"/>
            <a:ext cx="1645920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tep Label 3"/>
          <p:cNvSpPr txBox="1"/>
          <p:nvPr/>
        </p:nvSpPr>
        <p:spPr>
          <a:xfrm>
            <a:off x="5029200" y="3611880"/>
            <a:ext cx="13167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FFFFFF"/>
                </a:solidFill>
              </a:rPr>
              <a:t>3</a:t>
            </a:r>
            <a:endParaRPr lang="en-US" sz="1500"/>
          </a:p>
          <a:p>
            <a:r>
              <a:rPr lang="en-US" sz="1120" b="1">
                <a:solidFill>
                  <a:srgbClr val="FFFFFF"/>
                </a:solidFill>
              </a:rPr>
              <a:t>Ziel</a:t>
            </a:r>
            <a:endParaRPr lang="en-US" sz="1120"/>
          </a:p>
        </p:txBody>
      </p:sp>
      <p:sp>
        <p:nvSpPr>
          <p:cNvPr id="26" name="Step 4"/>
          <p:cNvSpPr/>
          <p:nvPr/>
        </p:nvSpPr>
        <p:spPr>
          <a:xfrm>
            <a:off x="7013448" y="3154680"/>
            <a:ext cx="1645920" cy="1828800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tep Label 4"/>
          <p:cNvSpPr txBox="1"/>
          <p:nvPr/>
        </p:nvSpPr>
        <p:spPr>
          <a:xfrm>
            <a:off x="7178040" y="3611880"/>
            <a:ext cx="13167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FFFFFF"/>
                </a:solidFill>
              </a:rPr>
              <a:t>4</a:t>
            </a:r>
            <a:endParaRPr lang="en-US" sz="1500"/>
          </a:p>
          <a:p>
            <a:r>
              <a:rPr lang="en-US" sz="1120" b="1">
                <a:solidFill>
                  <a:srgbClr val="FFFFFF"/>
                </a:solidFill>
              </a:rPr>
              <a:t>Beispiele</a:t>
            </a:r>
            <a:endParaRPr lang="en-US" sz="1120"/>
          </a:p>
        </p:txBody>
      </p:sp>
      <p:sp>
        <p:nvSpPr>
          <p:cNvPr id="28" name="Step 5"/>
          <p:cNvSpPr/>
          <p:nvPr/>
        </p:nvSpPr>
        <p:spPr>
          <a:xfrm>
            <a:off x="9162288" y="3154680"/>
            <a:ext cx="1645920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tep Label 5"/>
          <p:cNvSpPr txBox="1"/>
          <p:nvPr/>
        </p:nvSpPr>
        <p:spPr>
          <a:xfrm>
            <a:off x="9326880" y="3611880"/>
            <a:ext cx="13167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500" b="1">
                <a:solidFill>
                  <a:srgbClr val="FFFFFF"/>
                </a:solidFill>
              </a:rPr>
              <a:t>5</a:t>
            </a:r>
            <a:endParaRPr lang="en-US" sz="1500"/>
          </a:p>
          <a:p>
            <a:r>
              <a:rPr lang="en-US" sz="1120" b="1">
                <a:solidFill>
                  <a:srgbClr val="FFFFFF"/>
                </a:solidFill>
              </a:rPr>
              <a:t>Pruefen</a:t>
            </a:r>
            <a:endParaRPr lang="en-US" sz="11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FEHLERQUELLEN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Was in der Praxis schieflaeuft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Schwache Anweisungen und fehlende Pruefung erhoehen die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Wahrscheinlichkeit fuer generische, irrelevante oder falsche Ergebnisse.</a:t>
            </a:r>
            <a:endParaRPr lang="en-US" sz="1040"/>
          </a:p>
        </p:txBody>
      </p:sp>
      <p:sp>
        <p:nvSpPr>
          <p:cNvPr id="10" name="Card 1"/>
          <p:cNvSpPr/>
          <p:nvPr/>
        </p:nvSpPr>
        <p:spPr>
          <a:xfrm>
            <a:off x="566928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Label 1"/>
          <p:cNvSpPr txBox="1"/>
          <p:nvPr/>
        </p:nvSpPr>
        <p:spPr>
          <a:xfrm>
            <a:off x="822960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Zu vage Anfragen</a:t>
            </a:r>
            <a:endParaRPr lang="en-US" sz="1040"/>
          </a:p>
        </p:txBody>
      </p:sp>
      <p:sp>
        <p:nvSpPr>
          <p:cNvPr id="12" name="Card 2"/>
          <p:cNvSpPr/>
          <p:nvPr/>
        </p:nvSpPr>
        <p:spPr>
          <a:xfrm>
            <a:off x="4526280" y="233172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Label 2"/>
          <p:cNvSpPr txBox="1"/>
          <p:nvPr/>
        </p:nvSpPr>
        <p:spPr>
          <a:xfrm>
            <a:off x="4782312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Kein fachlicher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Kontext</a:t>
            </a:r>
            <a:endParaRPr lang="en-US" sz="1040"/>
          </a:p>
        </p:txBody>
      </p:sp>
      <p:sp>
        <p:nvSpPr>
          <p:cNvPr id="14" name="Card 3"/>
          <p:cNvSpPr/>
          <p:nvPr/>
        </p:nvSpPr>
        <p:spPr>
          <a:xfrm>
            <a:off x="8485632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Label 3"/>
          <p:cNvSpPr txBox="1"/>
          <p:nvPr/>
        </p:nvSpPr>
        <p:spPr>
          <a:xfrm>
            <a:off x="8741663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Keine Beispiele</a:t>
            </a:r>
            <a:endParaRPr lang="en-US" sz="1040"/>
          </a:p>
        </p:txBody>
      </p:sp>
      <p:sp>
        <p:nvSpPr>
          <p:cNvPr id="16" name="Card 4"/>
          <p:cNvSpPr/>
          <p:nvPr/>
        </p:nvSpPr>
        <p:spPr>
          <a:xfrm>
            <a:off x="2578608" y="406908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 Label 4"/>
          <p:cNvSpPr txBox="1"/>
          <p:nvPr/>
        </p:nvSpPr>
        <p:spPr>
          <a:xfrm>
            <a:off x="2834639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Keine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Qualitaetskontrolle</a:t>
            </a:r>
            <a:endParaRPr lang="en-US" sz="1040"/>
          </a:p>
        </p:txBody>
      </p:sp>
      <p:sp>
        <p:nvSpPr>
          <p:cNvPr id="18" name="Card 5"/>
          <p:cNvSpPr/>
          <p:nvPr/>
        </p:nvSpPr>
        <p:spPr>
          <a:xfrm>
            <a:off x="6537960" y="406908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ard Label 5"/>
          <p:cNvSpPr txBox="1"/>
          <p:nvPr/>
        </p:nvSpPr>
        <p:spPr>
          <a:xfrm>
            <a:off x="6793992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Blinde Uebernahme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von Ergebnissen</a:t>
            </a:r>
            <a:endParaRPr lang="en-US" sz="10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RISIKOLOGIK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Warum Agenten eine andere Risikoklasse sind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KI-Systeme, die Tools oder externe Aktionen ausloesen koennen,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brauchen staerkere Schutzmechanismen, Aufsicht und Grenzen als reine Chat-Nutzung.</a:t>
            </a:r>
            <a:endParaRPr lang="en-US" sz="1040"/>
          </a:p>
        </p:txBody>
      </p:sp>
      <p:sp>
        <p:nvSpPr>
          <p:cNvPr id="30" name="Ladder 1"/>
          <p:cNvSpPr/>
          <p:nvPr/>
        </p:nvSpPr>
        <p:spPr>
          <a:xfrm>
            <a:off x="566928" y="4343400"/>
            <a:ext cx="3886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Ladder Label 1"/>
          <p:cNvSpPr txBox="1"/>
          <p:nvPr/>
        </p:nvSpPr>
        <p:spPr>
          <a:xfrm>
            <a:off x="822960" y="45262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1E293B"/>
                </a:solidFill>
              </a:rPr>
              <a:t>Chatbots antworten</a:t>
            </a:r>
            <a:endParaRPr lang="en-US" sz="1100"/>
          </a:p>
        </p:txBody>
      </p:sp>
      <p:sp>
        <p:nvSpPr>
          <p:cNvPr id="32" name="Ladder 2"/>
          <p:cNvSpPr/>
          <p:nvPr/>
        </p:nvSpPr>
        <p:spPr>
          <a:xfrm>
            <a:off x="1325880" y="3337560"/>
            <a:ext cx="5394960" cy="777240"/>
          </a:xfrm>
          <a:prstGeom prst="roundRect">
            <a:avLst/>
          </a:prstGeom>
          <a:solidFill>
            <a:srgbClr val="FFF2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Ladder Label 2"/>
          <p:cNvSpPr txBox="1"/>
          <p:nvPr/>
        </p:nvSpPr>
        <p:spPr>
          <a:xfrm>
            <a:off x="1581912" y="35204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1E293B"/>
                </a:solidFill>
              </a:rPr>
              <a:t>Agenten koennen handeln</a:t>
            </a:r>
            <a:endParaRPr lang="en-US" sz="1100"/>
          </a:p>
        </p:txBody>
      </p:sp>
      <p:sp>
        <p:nvSpPr>
          <p:cNvPr id="34" name="Ladder 3"/>
          <p:cNvSpPr/>
          <p:nvPr/>
        </p:nvSpPr>
        <p:spPr>
          <a:xfrm>
            <a:off x="2084831" y="2331720"/>
            <a:ext cx="6903720" cy="777240"/>
          </a:xfrm>
          <a:prstGeom prst="roundRect">
            <a:avLst/>
          </a:prstGeom>
          <a:solidFill>
            <a:srgbClr val="F4F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adder Label 3"/>
          <p:cNvSpPr txBox="1"/>
          <p:nvPr/>
        </p:nvSpPr>
        <p:spPr>
          <a:xfrm>
            <a:off x="2340863" y="2514600"/>
            <a:ext cx="6446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1E293B"/>
                </a:solidFill>
              </a:rPr>
              <a:t>Mehr Wirkung bedeutet mehr Kontrollbedarf</a:t>
            </a:r>
            <a:endParaRPr lang="en-US" sz="1100"/>
          </a:p>
        </p:txBody>
      </p:sp>
      <p:sp>
        <p:nvSpPr>
          <p:cNvPr id="36" name="Ladder 4"/>
          <p:cNvSpPr/>
          <p:nvPr/>
        </p:nvSpPr>
        <p:spPr>
          <a:xfrm>
            <a:off x="2843784" y="1325880"/>
            <a:ext cx="8412480" cy="777240"/>
          </a:xfrm>
          <a:prstGeom prst="roundRect">
            <a:avLst/>
          </a:prstGeom>
          <a:solidFill>
            <a:srgbClr val="E6F4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Ladder Label 4"/>
          <p:cNvSpPr txBox="1"/>
          <p:nvPr/>
        </p:nvSpPr>
        <p:spPr>
          <a:xfrm>
            <a:off x="3099815" y="150876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00" b="1">
                <a:solidFill>
                  <a:srgbClr val="1E293B"/>
                </a:solidFill>
              </a:rPr>
              <a:t>Mehr Autonomie braucht Leitplanken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GUARDRAILS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Leitplanken fuer verantwortliche Nutzung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Verantwortliche Nutzung profitiert von klaren Grenzen,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menschlicher Pruefung und Regeln fuer Aufgaben mit hoeherer Wirkung.</a:t>
            </a:r>
            <a:endParaRPr lang="en-US" sz="1040"/>
          </a:p>
        </p:txBody>
      </p:sp>
      <p:sp>
        <p:nvSpPr>
          <p:cNvPr id="10" name="Card 1"/>
          <p:cNvSpPr/>
          <p:nvPr/>
        </p:nvSpPr>
        <p:spPr>
          <a:xfrm>
            <a:off x="566928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ard Label 1"/>
          <p:cNvSpPr txBox="1"/>
          <p:nvPr/>
        </p:nvSpPr>
        <p:spPr>
          <a:xfrm>
            <a:off x="822960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Keine sensiblen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Daten eingeben</a:t>
            </a:r>
            <a:endParaRPr lang="en-US" sz="1040"/>
          </a:p>
        </p:txBody>
      </p:sp>
      <p:sp>
        <p:nvSpPr>
          <p:cNvPr id="12" name="Card 2"/>
          <p:cNvSpPr/>
          <p:nvPr/>
        </p:nvSpPr>
        <p:spPr>
          <a:xfrm>
            <a:off x="4526280" y="233172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ard Label 2"/>
          <p:cNvSpPr txBox="1"/>
          <p:nvPr/>
        </p:nvSpPr>
        <p:spPr>
          <a:xfrm>
            <a:off x="4782312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Wichtige Ergebnisse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pruefen</a:t>
            </a:r>
            <a:endParaRPr lang="en-US" sz="1040"/>
          </a:p>
        </p:txBody>
      </p:sp>
      <p:sp>
        <p:nvSpPr>
          <p:cNvPr id="14" name="Card 3"/>
          <p:cNvSpPr/>
          <p:nvPr/>
        </p:nvSpPr>
        <p:spPr>
          <a:xfrm>
            <a:off x="8485632" y="2331720"/>
            <a:ext cx="3154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ard Label 3"/>
          <p:cNvSpPr txBox="1"/>
          <p:nvPr/>
        </p:nvSpPr>
        <p:spPr>
          <a:xfrm>
            <a:off x="8741663" y="2679191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Klare Regeln fuer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Nutzung</a:t>
            </a:r>
            <a:endParaRPr lang="en-US" sz="1040"/>
          </a:p>
        </p:txBody>
      </p:sp>
      <p:sp>
        <p:nvSpPr>
          <p:cNvPr id="16" name="Card 4"/>
          <p:cNvSpPr/>
          <p:nvPr/>
        </p:nvSpPr>
        <p:spPr>
          <a:xfrm>
            <a:off x="2578608" y="4069080"/>
            <a:ext cx="3154680" cy="1325880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Card Label 4"/>
          <p:cNvSpPr txBox="1"/>
          <p:nvPr/>
        </p:nvSpPr>
        <p:spPr>
          <a:xfrm>
            <a:off x="2834639" y="4416552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 b="1">
                <a:solidFill>
                  <a:srgbClr val="1E293B"/>
                </a:solidFill>
              </a:rPr>
              <a:t>Mehr Kontrolle bei</a:t>
            </a:r>
            <a:endParaRPr lang="en-US" sz="1040"/>
          </a:p>
          <a:p>
            <a:r>
              <a:rPr lang="en-US" sz="1040" b="1">
                <a:solidFill>
                  <a:srgbClr val="1E293B"/>
                </a:solidFill>
              </a:rPr>
              <a:t>hoeherem Risiko</a:t>
            </a:r>
            <a:endParaRPr lang="en-US" sz="10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MERKSATZ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Drei Regeln fuer den Alltag</a:t>
            </a:r>
            <a:endParaRPr lang="en-US" sz="2400"/>
          </a:p>
        </p:txBody>
      </p:sp>
      <p:sp>
        <p:nvSpPr>
          <p:cNvPr id="5" name="Statement Box"/>
          <p:cNvSpPr/>
          <p:nvPr/>
        </p:nvSpPr>
        <p:spPr>
          <a:xfrm>
            <a:off x="566928" y="1371600"/>
            <a:ext cx="10789920" cy="932688"/>
          </a:xfrm>
          <a:prstGeom prst="roundRect">
            <a:avLst/>
          </a:prstGeom>
          <a:solidFill>
            <a:srgbClr val="FDF8F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822960" y="1618488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040">
                <a:solidFill>
                  <a:srgbClr val="667085"/>
                </a:solidFill>
              </a:rPr>
              <a:t>Nuetzliche KI-Nutzung im Alltag braucht Kontext, Verifikation</a:t>
            </a:r>
            <a:endParaRPr lang="en-US" sz="1040"/>
          </a:p>
          <a:p>
            <a:r>
              <a:rPr lang="en-US" sz="1040">
                <a:solidFill>
                  <a:srgbClr val="667085"/>
                </a:solidFill>
              </a:rPr>
              <a:t>und menschliche Verantwortung.</a:t>
            </a:r>
            <a:endParaRPr lang="en-US" sz="1040"/>
          </a:p>
        </p:txBody>
      </p:sp>
      <p:sp>
        <p:nvSpPr>
          <p:cNvPr id="40" name="Rule 1"/>
          <p:cNvSpPr/>
          <p:nvPr/>
        </p:nvSpPr>
        <p:spPr>
          <a:xfrm>
            <a:off x="868680" y="2834640"/>
            <a:ext cx="2697480" cy="2240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ule Text 1"/>
          <p:cNvSpPr txBox="1"/>
          <p:nvPr/>
        </p:nvSpPr>
        <p:spPr>
          <a:xfrm>
            <a:off x="1088136" y="3493008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60" b="1">
                <a:solidFill>
                  <a:srgbClr val="FFFFFF"/>
                </a:solidFill>
              </a:rPr>
              <a:t>KI ist Werkzeug, nicht Wahrheit</a:t>
            </a:r>
            <a:endParaRPr lang="en-US" sz="1160"/>
          </a:p>
        </p:txBody>
      </p:sp>
      <p:sp>
        <p:nvSpPr>
          <p:cNvPr id="42" name="Rule 2"/>
          <p:cNvSpPr/>
          <p:nvPr/>
        </p:nvSpPr>
        <p:spPr>
          <a:xfrm>
            <a:off x="4069080" y="2834640"/>
            <a:ext cx="2697480" cy="2240280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ule Text 2"/>
          <p:cNvSpPr txBox="1"/>
          <p:nvPr/>
        </p:nvSpPr>
        <p:spPr>
          <a:xfrm>
            <a:off x="4288536" y="3493008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60" b="1">
                <a:solidFill>
                  <a:srgbClr val="FFFFFF"/>
                </a:solidFill>
              </a:rPr>
              <a:t>Qualitaet braucht Kontext</a:t>
            </a:r>
            <a:endParaRPr lang="en-US" sz="1160"/>
          </a:p>
        </p:txBody>
      </p:sp>
      <p:sp>
        <p:nvSpPr>
          <p:cNvPr id="44" name="Rule 3"/>
          <p:cNvSpPr/>
          <p:nvPr/>
        </p:nvSpPr>
        <p:spPr>
          <a:xfrm>
            <a:off x="7269480" y="2834640"/>
            <a:ext cx="2697480" cy="2240280"/>
          </a:xfrm>
          <a:prstGeom prst="roundRect">
            <a:avLst/>
          </a:prstGeom>
          <a:solidFill>
            <a:srgbClr val="0B3B45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ule Text 3"/>
          <p:cNvSpPr txBox="1"/>
          <p:nvPr/>
        </p:nvSpPr>
        <p:spPr>
          <a:xfrm>
            <a:off x="7488936" y="3493008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160" b="1">
                <a:solidFill>
                  <a:srgbClr val="FFFFFF"/>
                </a:solidFill>
              </a:rPr>
              <a:t>Verantwortung bleibt beim Menschen</a:t>
            </a:r>
            <a:endParaRPr lang="en-US" sz="11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566928" y="411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1">
                <a:solidFill>
                  <a:srgbClr val="0F766E"/>
                </a:solidFill>
              </a:rPr>
              <a:t>ABSCHLUSS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566928" y="74980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400" b="1">
                <a:solidFill>
                  <a:srgbClr val="1E293B"/>
                </a:solidFill>
              </a:rPr>
              <a:t>Fazit und Fragen</a:t>
            </a:r>
            <a:endParaRPr lang="en-US" sz="2400"/>
          </a:p>
        </p:txBody>
      </p:sp>
      <p:sp>
        <p:nvSpPr>
          <p:cNvPr id="50" name="Summary Panel"/>
          <p:cNvSpPr/>
          <p:nvPr/>
        </p:nvSpPr>
        <p:spPr>
          <a:xfrm>
            <a:off x="566928" y="1600200"/>
            <a:ext cx="7909560" cy="3611880"/>
          </a:xfrm>
          <a:prstGeom prst="roundRect">
            <a:avLst/>
          </a:prstGeom>
          <a:solidFill>
            <a:srgbClr val="0B3B45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ummary Statement"/>
          <p:cNvSpPr txBox="1"/>
          <p:nvPr/>
        </p:nvSpPr>
        <p:spPr>
          <a:xfrm>
            <a:off x="896112" y="2148840"/>
            <a:ext cx="71323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800" b="1">
                <a:solidFill>
                  <a:srgbClr val="FFFFFF"/>
                </a:solidFill>
              </a:rPr>
              <a:t>KI ist am nuetzlichsten, wenn sie mit klaren Prompts, Pruefung und passenden Guardrails eingesetzt wird.</a:t>
            </a:r>
            <a:endParaRPr lang="en-US" sz="1800"/>
          </a:p>
        </p:txBody>
      </p:sp>
      <p:sp>
        <p:nvSpPr>
          <p:cNvPr id="52" name="Close Card 1"/>
          <p:cNvSpPr/>
          <p:nvPr/>
        </p:nvSpPr>
        <p:spPr>
          <a:xfrm>
            <a:off x="8759952" y="1874519"/>
            <a:ext cx="2240280" cy="713232"/>
          </a:xfrm>
          <a:prstGeom prst="roundRect">
            <a:avLst/>
          </a:prstGeom>
          <a:solidFill>
            <a:srgbClr val="E7D8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Close Text 1"/>
          <p:cNvSpPr txBox="1"/>
          <p:nvPr/>
        </p:nvSpPr>
        <p:spPr>
          <a:xfrm>
            <a:off x="8924544" y="2084831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80" b="1">
                <a:solidFill>
                  <a:srgbClr val="1E293B"/>
                </a:solidFill>
              </a:rPr>
              <a:t>Klare Prompts</a:t>
            </a:r>
            <a:endParaRPr lang="en-US" sz="980"/>
          </a:p>
        </p:txBody>
      </p:sp>
      <p:sp>
        <p:nvSpPr>
          <p:cNvPr id="54" name="Close Card 2"/>
          <p:cNvSpPr/>
          <p:nvPr/>
        </p:nvSpPr>
        <p:spPr>
          <a:xfrm>
            <a:off x="8759952" y="2880360"/>
            <a:ext cx="2240280" cy="713232"/>
          </a:xfrm>
          <a:prstGeom prst="roundRect">
            <a:avLst/>
          </a:prstGeom>
          <a:solidFill>
            <a:srgbClr val="F9E0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Close Text 2"/>
          <p:cNvSpPr txBox="1"/>
          <p:nvPr/>
        </p:nvSpPr>
        <p:spPr>
          <a:xfrm>
            <a:off x="8924544" y="30906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80" b="1">
                <a:solidFill>
                  <a:srgbClr val="1E293B"/>
                </a:solidFill>
              </a:rPr>
              <a:t>Pruefung</a:t>
            </a:r>
            <a:endParaRPr lang="en-US" sz="980"/>
          </a:p>
        </p:txBody>
      </p:sp>
      <p:sp>
        <p:nvSpPr>
          <p:cNvPr id="56" name="Close Card 3"/>
          <p:cNvSpPr/>
          <p:nvPr/>
        </p:nvSpPr>
        <p:spPr>
          <a:xfrm>
            <a:off x="8759952" y="3886200"/>
            <a:ext cx="2240280" cy="713232"/>
          </a:xfrm>
          <a:prstGeom prst="roundRect">
            <a:avLst/>
          </a:prstGeom>
          <a:solidFill>
            <a:srgbClr val="E7D8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Close Text 3"/>
          <p:cNvSpPr txBox="1"/>
          <p:nvPr/>
        </p:nvSpPr>
        <p:spPr>
          <a:xfrm>
            <a:off x="8924544" y="4096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980" b="1">
                <a:solidFill>
                  <a:srgbClr val="1E293B"/>
                </a:solidFill>
              </a:rPr>
              <a:t>Angemessene Guardrails</a:t>
            </a:r>
            <a:endParaRPr lang="en-US" sz="980"/>
          </a:p>
        </p:txBody>
      </p:sp>
      <p:sp>
        <p:nvSpPr>
          <p:cNvPr id="60" name="Question"/>
          <p:cNvSpPr txBox="1"/>
          <p:nvPr/>
        </p:nvSpPr>
        <p:spPr>
          <a:xfrm>
            <a:off x="8759952" y="4983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b="1">
                <a:solidFill>
                  <a:srgbClr val="0F766E"/>
                </a:solidFill>
              </a:rPr>
              <a:t>Fragen?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nablement Theme">
  <a:themeElements>
    <a:clrScheme name="AI Enablement Colors">
      <a:dk1>
        <a:srgbClr val="1E293B"/>
      </a:dk1>
      <a:lt1>
        <a:srgbClr val="F7F4EE"/>
      </a:lt1>
      <a:dk2>
        <a:srgbClr val="0B3B45"/>
      </a:dk2>
      <a:lt2>
        <a:srgbClr val="FFFFFF"/>
      </a:lt2>
      <a:accent1>
        <a:srgbClr val="0F766E"/>
      </a:accent1>
      <a:accent2>
        <a:srgbClr val="D97757"/>
      </a:accent2>
      <a:accent3>
        <a:srgbClr val="E7D8C9"/>
      </a:accent3>
      <a:accent4>
        <a:srgbClr val="667085"/>
      </a:accent4>
      <a:accent5>
        <a:srgbClr val="D6D3D1"/>
      </a:accent5>
      <a:accent6>
        <a:srgbClr val="FDF8F3"/>
      </a:accent6>
      <a:hlink>
        <a:srgbClr val="0F766E"/>
      </a:hlink>
      <a:folHlink>
        <a:srgbClr val="667085"/>
      </a:folHlink>
    </a:clrScheme>
    <a:fontScheme name="AI Enablement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3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Builder</Application>
  <Slides>12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Showcase Deck</dc:title>
  <dc:creator>Codex</dc:creator>
  <cp:lastModifiedBy>Codex</cp:lastModifiedBy>
  <dcterms:created xsi:type="dcterms:W3CDTF">2026-03-11T11:13:08+00:00</dcterms:created>
  <dcterms:modified xsi:type="dcterms:W3CDTF">2026-03-11T11:13:08+00:00</dcterms:modified>
</cp:coreProperties>
</file>